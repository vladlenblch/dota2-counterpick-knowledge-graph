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Noto Sans Bold" panose="020B0502040504020204" pitchFamily="34" charset="0"/>
      <p:regular r:id="rId11"/>
      <p:bold r:id="rId12"/>
    </p:embeddedFont>
    <p:embeddedFont>
      <p:font typeface="Noto Sans ExtraBold" panose="020B0502040504020204" pitchFamily="34" charset="0"/>
      <p:regular r:id="rId13"/>
      <p:bold r:id="rId14"/>
    </p:embeddedFont>
    <p:embeddedFont>
      <p:font typeface="Noto Sans Medium" panose="020B0502040504020204" pitchFamily="34" charset="0"/>
      <p:regular r:id="rId15"/>
    </p:embeddedFont>
    <p:embeddedFont>
      <p:font typeface="Noto Sans SemiBold" panose="020B0502040504020204" pitchFamily="34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61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92746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СИСТЕМА ПОДБОРА КОНТРПИКОВ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1798141"/>
            <a:ext cx="11277318" cy="183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600" kern="0" spc="-266" dirty="0">
                <a:solidFill>
                  <a:srgbClr val="131A2B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DOTA 2</a:t>
            </a:r>
            <a:endParaRPr lang="en-US" sz="76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7600" kern="0" spc="-266" dirty="0">
                <a:solidFill>
                  <a:srgbClr val="B23A2E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COUNTERPICK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457189" y="3835102"/>
            <a:ext cx="11277318" cy="304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На основе графа знаний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189" y="4607421"/>
            <a:ext cx="3721503" cy="50701"/>
          </a:xfrm>
          <a:prstGeom prst="roundRect">
            <a:avLst>
              <a:gd name="adj" fmla="val 49999"/>
            </a:avLst>
          </a:prstGeom>
          <a:solidFill>
            <a:srgbClr val="B23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4923334"/>
            <a:ext cx="11277318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Смирнов Андрей Алексеевич · Мельник Фёдор Александрович</a:t>
            </a:r>
            <a:endParaRPr lang="en-US" sz="15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Ларионов Владислав Васильевич · Байбурина Карина Ильшатовна</a:t>
            </a:r>
            <a:endParaRPr lang="en-US" sz="15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F8B4D6-7004-73D2-5BCB-68098BEEAE56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56755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ОДНОЙ СТАТИСТИКИ НЕДОСТАТОЧНО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2672060"/>
            <a:ext cx="563865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СЕРВИСЫ ПОКАЗЫВАЮТ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2977455"/>
            <a:ext cx="5333867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Винрейт, частоту пика и бана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640" y="2672060"/>
            <a:ext cx="533386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ВЫБОР ЗАВИСИТ ОТ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640" y="2977455"/>
            <a:ext cx="5333867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Героев, способностей, позиции, предметов, патча и матчапов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189" y="4810323"/>
            <a:ext cx="11277318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B23A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Но почему герой — хороший контрпик?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089498" y="2316460"/>
            <a:ext cx="12700" cy="2189063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DC36BC7-B392-9972-6904-C1011EFA3E92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ПОЧЕМУ ГЕРОЙ СТАНОВИТСЯ КОНТРПИКОМ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189" y="1116905"/>
            <a:ext cx="455700" cy="455712"/>
          </a:xfrm>
          <a:prstGeom prst="ellipse">
            <a:avLst/>
          </a:prstGeom>
          <a:noFill/>
          <a:ln w="19050">
            <a:solidFill>
              <a:srgbClr val="131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736" y="1217712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5285" y="1192312"/>
            <a:ext cx="6965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Снимает положительные эффекты противника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221309"/>
            <a:ext cx="455700" cy="455712"/>
          </a:xfrm>
          <a:prstGeom prst="ellipse">
            <a:avLst/>
          </a:prstGeom>
          <a:noFill/>
          <a:ln w="19050">
            <a:solidFill>
              <a:srgbClr val="131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736" y="2322116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5285" y="2296716"/>
            <a:ext cx="6965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Быстро уничтожает иллюзии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189" y="3325713"/>
            <a:ext cx="455700" cy="455712"/>
          </a:xfrm>
          <a:prstGeom prst="ellipse">
            <a:avLst/>
          </a:prstGeom>
          <a:noFill/>
          <a:ln w="19050">
            <a:solidFill>
              <a:srgbClr val="131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736" y="3426520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5285" y="3401120"/>
            <a:ext cx="6965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Препятствует мобильности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189" y="4430117"/>
            <a:ext cx="455700" cy="455712"/>
          </a:xfrm>
          <a:prstGeom prst="ellipse">
            <a:avLst/>
          </a:prstGeom>
          <a:noFill/>
          <a:ln w="19050">
            <a:solidFill>
              <a:srgbClr val="131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736" y="4530923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5285" y="4505523"/>
            <a:ext cx="6965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Имеет иммунитет или сопротивление к типу урона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189" y="5534521"/>
            <a:ext cx="455700" cy="455712"/>
          </a:xfrm>
          <a:prstGeom prst="ellipse">
            <a:avLst/>
          </a:prstGeom>
          <a:noFill/>
          <a:ln w="19050">
            <a:solidFill>
              <a:srgbClr val="131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736" y="5635327"/>
            <a:ext cx="9001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5285" y="5609927"/>
            <a:ext cx="6965974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Хорошо играет против героя только на определённой позиции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8349" y="2985492"/>
            <a:ext cx="3246158" cy="1546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Проблема: знания о контрпиках, характеристиках героев, способностях и статистике разбросаны по разным источникам и не собраны в единую систему связанных знаний.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189" y="1986359"/>
            <a:ext cx="7574071" cy="12700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189" y="3090763"/>
            <a:ext cx="7574071" cy="12700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189" y="4195167"/>
            <a:ext cx="7574071" cy="12700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189" y="5299571"/>
            <a:ext cx="7574071" cy="12700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7737368-CE6F-F58E-0FA4-1D171A1480E3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662410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ИСТОЧНИКИ ДАННЫХ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2703116"/>
            <a:ext cx="563865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ОТКРЫТЫЙ API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3008511"/>
            <a:ext cx="5333867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B23A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OpenDota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189" y="3561259"/>
            <a:ext cx="5333867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Герои, матчи, матчапы, предметы, профессиональные матчи и статистика игроков.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4593530"/>
            <a:ext cx="563865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Valve WebAPI и анализ replay-файлов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640" y="2703116"/>
            <a:ext cx="533386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GRAPHQL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640" y="3008511"/>
            <a:ext cx="5333867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STRATZ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640" y="3561259"/>
            <a:ext cx="5333867" cy="5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Детальная статистика матчей, игроков и героев.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9498" y="2322116"/>
            <a:ext cx="12700" cy="2873375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52FDDD7-0B1F-BA36-4DCF-ADCD82D9604C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984177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ИСТОЧНИКИ ДАННЫХ </a:t>
            </a:r>
            <a:r>
              <a:rPr lang="en-US" sz="3600" b="1" kern="0" spc="-126" dirty="0">
                <a:solidFill>
                  <a:srgbClr val="B23A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(ПРОДОЛЖЕНИЕ)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2923282"/>
            <a:ext cx="3555911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Dotabuff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189" y="3476030"/>
            <a:ext cx="3555911" cy="76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Винрейт, пикрейт, ранги, позиции и преимущество героев.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4373463"/>
            <a:ext cx="375910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5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Counter — проверка текущей меты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19489" y="2923282"/>
            <a:ext cx="3352716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Dota2ProTracker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419489" y="3476030"/>
            <a:ext cx="3352716" cy="76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Матчи игроков 7000+ MMR и профессиональной сцены: сборки, сочетания, матчапы.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78595" y="2923282"/>
            <a:ext cx="3555911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Valve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178595" y="3476030"/>
            <a:ext cx="3555911" cy="101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Характеристики героев, предметы и изменения патчей, критичные для расчёта контрпиков.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09945" y="2643882"/>
            <a:ext cx="12700" cy="2229941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69051" y="2643882"/>
            <a:ext cx="12700" cy="2229941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6CA3A58-4A02-4208-34D5-C7C98414BA94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855067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СИСТЕМА НА ОСНОВЕ </a:t>
            </a:r>
            <a:r>
              <a:rPr lang="en-US" sz="3600" b="1" kern="0" spc="-126" dirty="0">
                <a:solidFill>
                  <a:srgbClr val="B23A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ГРАФА ЗНАНИЙ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514773"/>
            <a:ext cx="11277318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396" y="5781973"/>
            <a:ext cx="1188690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500" dirty="0">
                <a:solidFill>
                  <a:srgbClr val="131A2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Связи позволяют учитывать несколько факторов одновременно, а не один показатель.</a:t>
            </a:r>
            <a:endParaRPr lang="en-US" sz="15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125CEB-27AD-48ED-CAD7-062FBBFC25EC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839615"/>
            <a:ext cx="1127731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ПРИМЕР РАБОТЫ СИСТЕМЫ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89" y="2880320"/>
            <a:ext cx="451086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ЗАПРОС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189" y="3185716"/>
            <a:ext cx="4206075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«Какие герои подходят против Phantom Lancer?»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72849" y="2880320"/>
            <a:ext cx="646165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РЕЗУЛЬТАТ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72849" y="3185716"/>
            <a:ext cx="6461658" cy="390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B23A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Контрпики с объяснением выбора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272849" y="3738463"/>
            <a:ext cx="646165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Например: AoE-способности уничтожают иллюзии; статистика матчапа положительна в текущем патче.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61706" y="2499320"/>
            <a:ext cx="12700" cy="2519065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C10601-A3BF-0C6E-EFC2-8F3B27584E48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40359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500" b="1" kern="0" spc="60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РЕЗУЛЬТАТ ПРОЕКТА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1745754"/>
            <a:ext cx="11277318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131A2B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ОБЪЯСНИМАЯ</a:t>
            </a:r>
            <a:endParaRPr lang="en-US" sz="6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B23A2E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СИСТЕМА</a:t>
            </a:r>
            <a:endParaRPr lang="en-US" sz="6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6000" kern="0" spc="-210" dirty="0">
                <a:solidFill>
                  <a:srgbClr val="131A2B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РЕКОМЕНДАЦИЙ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57189" y="4309566"/>
            <a:ext cx="3721503" cy="50701"/>
          </a:xfrm>
          <a:prstGeom prst="roundRect">
            <a:avLst>
              <a:gd name="adj" fmla="val 49999"/>
            </a:avLst>
          </a:prstGeom>
          <a:solidFill>
            <a:srgbClr val="B23A2E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4809629"/>
            <a:ext cx="11277318" cy="608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131A2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Статистика дополняется знаниями о механиках и взаимосвязях игровых сущностей.</a:t>
            </a:r>
            <a:endParaRPr lang="en-US" sz="21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C27FCF-DD45-8212-7889-3DDAE1A5F40C}"/>
              </a:ext>
            </a:extLst>
          </p:cNvPr>
          <p:cNvSpPr/>
          <p:nvPr/>
        </p:nvSpPr>
        <p:spPr>
          <a:xfrm>
            <a:off x="10596880" y="6329680"/>
            <a:ext cx="1595120" cy="528320"/>
          </a:xfrm>
          <a:prstGeom prst="rect">
            <a:avLst/>
          </a:prstGeom>
          <a:solidFill>
            <a:srgbClr val="FBF8F3"/>
          </a:solidFill>
          <a:ln>
            <a:solidFill>
              <a:srgbClr val="FBF8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271</Words>
  <Application>Microsoft Macintosh PowerPoint</Application>
  <PresentationFormat>Широкоэкранный</PresentationFormat>
  <Paragraphs>61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Noto Sans Medium</vt:lpstr>
      <vt:lpstr>Noto Sans ExtraBold</vt:lpstr>
      <vt:lpstr>Noto Sans SemiBold</vt:lpstr>
      <vt:lpstr>Noto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Владислав Ларионов</cp:lastModifiedBy>
  <cp:revision>2</cp:revision>
  <dcterms:created xsi:type="dcterms:W3CDTF">2026-09-24T10:29:01Z</dcterms:created>
  <dcterms:modified xsi:type="dcterms:W3CDTF">2026-09-24T10:31:54Z</dcterms:modified>
</cp:coreProperties>
</file>